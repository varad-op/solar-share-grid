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7BAE-8891-0360-FB58-A47409D54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82EE3-020A-4D09-B77E-88283DFE5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C4E82-FD3A-59E8-5E5C-2EDF388E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647E6-7604-2770-B7F7-0924EB62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3EB49-F27B-BDD9-7B23-BA03A956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61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B4F5-DD79-4B11-3B69-4D267D40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DE2F4-69E4-A2CA-35D5-D58DD5835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84A93-02DE-140E-DB3F-A9597BB7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3820C-2BB9-349F-D6CB-E9DFCCDC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84CD-E0C4-77A7-2D16-AB5ABE60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64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825F-9924-59AF-8887-DFF5B9DC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61949-B65C-12AD-FB9F-5DE8CF086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642CC-E0B9-A44A-3A1D-748B6ACF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5FED-4D25-46EE-2E35-366232B0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2123-5406-3749-6DD6-CDFBBD01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60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5E91-AD0C-1A1E-5E26-908E9FA2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36AB-70E0-B296-E8AB-7567EA2B0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09BFB-6B31-9C89-2EB8-7D858B3A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ED176-D149-7C1A-3950-56264E7A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C4CEA-9240-ED69-AFC1-EC6BB2B4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04FD7-D6FF-8298-E3AC-7B9159C2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46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1538-26B1-A21A-7C4D-C8925516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0E2AE-26D3-4B9F-C50D-808157602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130CE-5298-F69E-D064-30A728A03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9268E-CC78-0E6C-F50E-A322CD850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0CC52-98A2-5883-0458-88F0472EE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21A4AE-EB91-F17F-D08C-620C9D5D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601A6-D0D0-9987-C397-1B8884BB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279B3-786C-AB65-9AD1-75E0CBDC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07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637C-7C5A-768C-90DA-9366FE73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E6813-2842-34E1-D440-759C617D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A79F9-901A-4E59-31AA-B34F7F4D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F5F00-9E7C-C477-9A4E-1242BBF4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97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AF619-9E77-F0DF-FF7F-DCB3DF2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F1D22-6E39-2CAE-4DB1-2B6AA520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5349A-255F-C2DA-9623-6AAC8DD0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70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9E7-C968-2F85-E20B-F5D304E1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2B970-D19C-A46D-85B2-FCD9163EE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68421-F445-F794-7F66-172A99187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137F3-841E-086F-FBD2-7929C7B1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6013C-0D68-A011-4C05-70064A3A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058C9-DCF7-437B-FE2D-B871A211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7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6151-C999-204A-12C2-53268D506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98AD7-9279-2F00-4556-0511786144C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6F488-F2D2-D7FD-84D3-369F67C7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53925-C44A-8E7F-845F-F4BD677F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4EF42-2F8F-2DAD-CD41-E353A153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518C9-CEF6-2E11-7785-A4AF23B0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18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986-C189-7C93-99C7-B38E5C6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04824-A41D-7297-4734-9FB4C2699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3C4A3-63B1-69BA-A8C8-3294DFD3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CC20-841F-ED9E-DF13-7D05B361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7164-2151-BB01-640F-BCFDCB75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51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7993D-C249-DEC5-F9F0-C180BC130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B4810-59C0-7B6B-902E-2D3FCF8F2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C0BE0-1A07-AA6B-FF20-7E03702F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B068-A4AE-495F-FB06-09371E58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E5731-4F27-4817-7181-D4052285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2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593E1-CECC-92D2-88D7-A6E1AAD0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2C444-2D1D-76D3-8A69-7D3331900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195DE-0EBD-49B7-F462-88A08CD78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40261-00B1-4F86-8DD0-5B727C2002A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AC002-F753-B277-EBF9-FAAC28E66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F5961-CD11-7262-3A74-FA7BC5274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225A6-8455-47B9-AB87-26931A7E0C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84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FD10E4-0D15-BD1D-B050-F3587FF371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FCA6D3-B96F-88C0-4CB9-D31377A38BB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0EF888-25EB-BF2E-989F-E802B885112D}"/>
              </a:ext>
            </a:extLst>
          </p:cNvPr>
          <p:cNvSpPr/>
          <p:nvPr/>
        </p:nvSpPr>
        <p:spPr>
          <a:xfrm>
            <a:off x="1016000" y="825500"/>
            <a:ext cx="3810000" cy="381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59E0B"/>
                </a:solidFill>
                <a:latin typeface="Segoe UI" panose="020B0502040204020203" pitchFamily="34" charset="0"/>
              </a:rPr>
              <a:t>DISCRETE MATHEMATICS &amp; GRAPH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38D51-BF4E-ADE2-7059-5AC8B2B1E4D6}"/>
              </a:ext>
            </a:extLst>
          </p:cNvPr>
          <p:cNvSpPr txBox="1"/>
          <p:nvPr/>
        </p:nvSpPr>
        <p:spPr>
          <a:xfrm>
            <a:off x="1016000" y="1397000"/>
            <a:ext cx="10160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5000" b="1">
                <a:solidFill>
                  <a:srgbClr val="FFFFFF"/>
                </a:solidFill>
                <a:latin typeface="Segoe UI" panose="020B0502040204020203" pitchFamily="34" charset="0"/>
              </a:rPr>
              <a:t>Solar Share Grid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4892D-AA8C-A34A-2820-197FD5FA22B7}"/>
              </a:ext>
            </a:extLst>
          </p:cNvPr>
          <p:cNvSpPr txBox="1"/>
          <p:nvPr/>
        </p:nvSpPr>
        <p:spPr>
          <a:xfrm>
            <a:off x="1016000" y="2476500"/>
            <a:ext cx="1016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Segoe UI" panose="020B0502040204020203" pitchFamily="34" charset="0"/>
              </a:rPr>
              <a:t>A Peer-to-Peer Rooftop Solar Trading Microgrid Simulator Powered by Binary Relations, Warshall's Transitive Closure, and Heuristic Graph Optimization</a:t>
            </a:r>
            <a:endParaRPr lang="en-IN" sz="14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206D7B-1780-07F5-3939-3D94587034B5}"/>
              </a:ext>
            </a:extLst>
          </p:cNvPr>
          <p:cNvSpPr/>
          <p:nvPr/>
        </p:nvSpPr>
        <p:spPr>
          <a:xfrm>
            <a:off x="1016000" y="3556000"/>
            <a:ext cx="6731000" cy="24765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A026D-7852-D5DF-7B5B-4F94B34E19B8}"/>
              </a:ext>
            </a:extLst>
          </p:cNvPr>
          <p:cNvSpPr txBox="1"/>
          <p:nvPr/>
        </p:nvSpPr>
        <p:spPr>
          <a:xfrm>
            <a:off x="1333500" y="3746500"/>
            <a:ext cx="609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10B981"/>
                </a:solidFill>
                <a:latin typeface="Segoe UI" panose="020B0502040204020203" pitchFamily="34" charset="0"/>
              </a:rPr>
              <a:t>PROJECT AUTHOR &amp; 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85F4C-97AF-D32D-5036-699F14432786}"/>
              </a:ext>
            </a:extLst>
          </p:cNvPr>
          <p:cNvSpPr txBox="1"/>
          <p:nvPr/>
        </p:nvSpPr>
        <p:spPr>
          <a:xfrm>
            <a:off x="1333500" y="4127500"/>
            <a:ext cx="609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Name: Varad Bele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AAF7A-35D9-1E0B-4BFA-3A60ED152C1E}"/>
              </a:ext>
            </a:extLst>
          </p:cNvPr>
          <p:cNvSpPr txBox="1"/>
          <p:nvPr/>
        </p:nvSpPr>
        <p:spPr>
          <a:xfrm>
            <a:off x="1333500" y="4762500"/>
            <a:ext cx="609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F59E0B"/>
                </a:solidFill>
                <a:latin typeface="Segoe UI" panose="020B0502040204020203" pitchFamily="34" charset="0"/>
              </a:rPr>
              <a:t>Roll No: 16015025004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54E8F-8470-FD83-C072-6D92DED30BF5}"/>
              </a:ext>
            </a:extLst>
          </p:cNvPr>
          <p:cNvSpPr txBox="1"/>
          <p:nvPr/>
        </p:nvSpPr>
        <p:spPr>
          <a:xfrm>
            <a:off x="1333500" y="5397500"/>
            <a:ext cx="609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B.Tech Second Year | Computer Engineering | Discrete Mathematics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37C163-F71B-E9CF-453B-B5954C2174B6}"/>
              </a:ext>
            </a:extLst>
          </p:cNvPr>
          <p:cNvSpPr/>
          <p:nvPr/>
        </p:nvSpPr>
        <p:spPr>
          <a:xfrm>
            <a:off x="8128000" y="3556000"/>
            <a:ext cx="3048000" cy="2476500"/>
          </a:xfrm>
          <a:prstGeom prst="roundRect">
            <a:avLst/>
          </a:prstGeom>
          <a:solidFill>
            <a:srgbClr val="121B2B"/>
          </a:solidFill>
          <a:ln w="1905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ECD73-D6DA-4148-9F05-903338DEF22A}"/>
              </a:ext>
            </a:extLst>
          </p:cNvPr>
          <p:cNvSpPr txBox="1"/>
          <p:nvPr/>
        </p:nvSpPr>
        <p:spPr>
          <a:xfrm>
            <a:off x="8318500" y="3746500"/>
            <a:ext cx="2667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59E0B"/>
                </a:solidFill>
                <a:latin typeface="Segoe UI" panose="020B0502040204020203" pitchFamily="34" charset="0"/>
              </a:rPr>
              <a:t>SYSTEM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BF6F3-78C8-F784-7ABB-8C4F82B1464B}"/>
              </a:ext>
            </a:extLst>
          </p:cNvPr>
          <p:cNvSpPr txBox="1"/>
          <p:nvPr/>
        </p:nvSpPr>
        <p:spPr>
          <a:xfrm>
            <a:off x="8318500" y="4127500"/>
            <a:ext cx="27305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•  5 Core Math Engines
•  Warshall's Algorithm O(V^3)
•  Equivalence Classes &amp; SCCs
•  Heuristic Line Optimizer
•  Real P2P Trade Simulation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4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6D2417-A0EA-AA50-D8A2-3B233C5545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58F1CB-B424-B49B-F376-082BA4C3746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576480-60CA-BE21-F38E-A914BBF37022}"/>
              </a:ext>
            </a:extLst>
          </p:cNvPr>
          <p:cNvSpPr/>
          <p:nvPr/>
        </p:nvSpPr>
        <p:spPr>
          <a:xfrm>
            <a:off x="762000" y="381000"/>
            <a:ext cx="2286000" cy="3302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59E0B"/>
                </a:solidFill>
                <a:latin typeface="Segoe UI" panose="020B0502040204020203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365D0-4568-3811-15DE-88D8BFADC898}"/>
              </a:ext>
            </a:extLst>
          </p:cNvPr>
          <p:cNvSpPr txBox="1"/>
          <p:nvPr/>
        </p:nvSpPr>
        <p:spPr>
          <a:xfrm>
            <a:off x="762000" y="762000"/>
            <a:ext cx="10668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" panose="020B0502040204020203" pitchFamily="34" charset="0"/>
              </a:rPr>
              <a:t>The Challenge in Decentralized Rooftop Solar Distribution</a:t>
            </a:r>
            <a:endParaRPr lang="en-IN" sz="2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90FE96-6194-8CC6-6FF6-A7E6E8C10948}"/>
              </a:ext>
            </a:extLst>
          </p:cNvPr>
          <p:cNvSpPr/>
          <p:nvPr/>
        </p:nvSpPr>
        <p:spPr>
          <a:xfrm>
            <a:off x="762000" y="1460500"/>
            <a:ext cx="5207000" cy="2032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74531-02DE-5F81-1EE7-30C99654051D}"/>
              </a:ext>
            </a:extLst>
          </p:cNvPr>
          <p:cNvSpPr txBox="1"/>
          <p:nvPr/>
        </p:nvSpPr>
        <p:spPr>
          <a:xfrm>
            <a:off x="952500" y="1587500"/>
            <a:ext cx="4826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F59E0B"/>
                </a:solidFill>
                <a:latin typeface="Segoe UI" panose="020B0502040204020203" pitchFamily="34" charset="0"/>
              </a:rPr>
              <a:t>1. Solar Generation &amp; Demand Mismatch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C67B4-C083-2309-E2E0-45B9EF724F50}"/>
              </a:ext>
            </a:extLst>
          </p:cNvPr>
          <p:cNvSpPr txBox="1"/>
          <p:nvPr/>
        </p:nvSpPr>
        <p:spPr>
          <a:xfrm>
            <a:off x="952500" y="1968500"/>
            <a:ext cx="4826000" cy="8002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•  Solar-equipped homes produce excess power during peak daylight hours when household consumption is low.
•  Non-solar neighbors suffer power deficits or expensive utility tariffs without an equitable local sharing grid.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9AA954-5302-87D5-A030-A99C6B409211}"/>
              </a:ext>
            </a:extLst>
          </p:cNvPr>
          <p:cNvSpPr/>
          <p:nvPr/>
        </p:nvSpPr>
        <p:spPr>
          <a:xfrm>
            <a:off x="6223000" y="1460500"/>
            <a:ext cx="5207000" cy="2032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5CB2F-614B-AC7C-6523-22CB82FCDE7D}"/>
              </a:ext>
            </a:extLst>
          </p:cNvPr>
          <p:cNvSpPr txBox="1"/>
          <p:nvPr/>
        </p:nvSpPr>
        <p:spPr>
          <a:xfrm>
            <a:off x="6413500" y="1587500"/>
            <a:ext cx="4826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50" b="1">
                <a:solidFill>
                  <a:srgbClr val="F59E0B"/>
                </a:solidFill>
                <a:latin typeface="Segoe UI" panose="020B0502040204020203" pitchFamily="34" charset="0"/>
              </a:rPr>
              <a:t>2. Directional Grid Constraints (Digraphs)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379FD-F7C5-376A-0864-BADFA4D08718}"/>
              </a:ext>
            </a:extLst>
          </p:cNvPr>
          <p:cNvSpPr txBox="1"/>
          <p:nvPr/>
        </p:nvSpPr>
        <p:spPr>
          <a:xfrm>
            <a:off x="6413500" y="1968500"/>
            <a:ext cx="4826000" cy="8002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•  Power lines operate under asymmetric or unidirectional power converters and feed-in safety limits.
•  Geographical proximity does NOT imply electrical reachability; valid directed transmission paths must exist.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8CA0D2-42B0-3BFE-55BC-3A922BD922CD}"/>
              </a:ext>
            </a:extLst>
          </p:cNvPr>
          <p:cNvSpPr/>
          <p:nvPr/>
        </p:nvSpPr>
        <p:spPr>
          <a:xfrm>
            <a:off x="762000" y="3683000"/>
            <a:ext cx="5207000" cy="2032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F029A-66FD-873A-DBC1-23B98440D22F}"/>
              </a:ext>
            </a:extLst>
          </p:cNvPr>
          <p:cNvSpPr txBox="1"/>
          <p:nvPr/>
        </p:nvSpPr>
        <p:spPr>
          <a:xfrm>
            <a:off x="952500" y="3810000"/>
            <a:ext cx="4826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solidFill>
                  <a:srgbClr val="F87171"/>
                </a:solidFill>
                <a:latin typeface="Segoe UI" panose="020B0502040204020203" pitchFamily="34" charset="0"/>
              </a:rPr>
              <a:t>3. The 'Left-Out Household' Crisis</a:t>
            </a:r>
            <a:endParaRPr lang="en-IN" sz="1350" b="1">
              <a:solidFill>
                <a:srgbClr val="F87171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490BE-7182-CAFD-FDB2-ED711E806FB1}"/>
              </a:ext>
            </a:extLst>
          </p:cNvPr>
          <p:cNvSpPr txBox="1"/>
          <p:nvPr/>
        </p:nvSpPr>
        <p:spPr>
          <a:xfrm>
            <a:off x="952500" y="4191000"/>
            <a:ext cx="4826000" cy="8002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•  Consumer homes with real energy demand remain isolated with zero access to upstream solar producers.
•  Formally: Reach^-1(v) contains NO surplus node. These homes receive 0 kW clean energy despite neighborhood surplus.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1E8495-3622-F099-2DC8-F19B306D8238}"/>
              </a:ext>
            </a:extLst>
          </p:cNvPr>
          <p:cNvSpPr/>
          <p:nvPr/>
        </p:nvSpPr>
        <p:spPr>
          <a:xfrm>
            <a:off x="6223000" y="3683000"/>
            <a:ext cx="5207000" cy="2032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030800-BFC7-8259-BBC5-D5FA49B68E90}"/>
              </a:ext>
            </a:extLst>
          </p:cNvPr>
          <p:cNvSpPr txBox="1"/>
          <p:nvPr/>
        </p:nvSpPr>
        <p:spPr>
          <a:xfrm>
            <a:off x="6413500" y="3810000"/>
            <a:ext cx="4826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solidFill>
                  <a:srgbClr val="F59E0B"/>
                </a:solidFill>
                <a:latin typeface="Segoe UI" panose="020B0502040204020203" pitchFamily="34" charset="0"/>
              </a:rPr>
              <a:t>4. Transmission Loss &amp; Arbitrary Cabling</a:t>
            </a:r>
            <a:endParaRPr lang="en-IN" sz="135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10E24-1B44-ADCB-1F76-9F3FCA920DC2}"/>
              </a:ext>
            </a:extLst>
          </p:cNvPr>
          <p:cNvSpPr txBox="1"/>
          <p:nvPr/>
        </p:nvSpPr>
        <p:spPr>
          <a:xfrm>
            <a:off x="6413500" y="4191000"/>
            <a:ext cx="4826000" cy="8002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50">
                <a:solidFill>
                  <a:srgbClr val="94A3B8"/>
                </a:solidFill>
                <a:latin typeface="Segoe UI" panose="020B0502040204020203" pitchFamily="34" charset="0"/>
              </a:rPr>
              <a:t>•  Multi-hop line resistance causes cumulative power loss: Delivered = Surplus x Product(1 - loss_i).
•  Microgrid engineers lack algorithmic tools to select the optimal missing link to install that maximizes coverage.</a:t>
            </a:r>
            <a:endParaRPr lang="en-IN" sz="115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0CD408-C7FC-EA25-A50A-5275678D2450}"/>
              </a:ext>
            </a:extLst>
          </p:cNvPr>
          <p:cNvSpPr/>
          <p:nvPr/>
        </p:nvSpPr>
        <p:spPr>
          <a:xfrm>
            <a:off x="762000" y="5905500"/>
            <a:ext cx="10668000" cy="635000"/>
          </a:xfrm>
          <a:prstGeom prst="roundRect">
            <a:avLst/>
          </a:prstGeom>
          <a:solidFill>
            <a:srgbClr val="121B2B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C2CAF-C779-B60E-C46E-06DCF2E7E33F}"/>
              </a:ext>
            </a:extLst>
          </p:cNvPr>
          <p:cNvSpPr txBox="1"/>
          <p:nvPr/>
        </p:nvSpPr>
        <p:spPr>
          <a:xfrm>
            <a:off x="952500" y="5994400"/>
            <a:ext cx="10287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10B981"/>
                </a:solidFill>
                <a:latin typeface="Segoe UI" panose="020B0502040204020203" pitchFamily="34" charset="0"/>
              </a:rPr>
              <a:t>PROJECT MISSION: Use Discrete Mathematics (Binary Relations, Warshall's Algorithm, SCCs) to transform chaotic physical microgrids into self-healing, equitable, and zero-loss P2P energy networks.</a:t>
            </a:r>
          </a:p>
        </p:txBody>
      </p:sp>
    </p:spTree>
    <p:extLst>
      <p:ext uri="{BB962C8B-B14F-4D97-AF65-F5344CB8AC3E}">
        <p14:creationId xmlns:p14="http://schemas.microsoft.com/office/powerpoint/2010/main" val="356478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AB353A-2C41-EA2D-4044-6D141C5B6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0D67F-55DA-7DC1-15BD-002821B0B9E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5703B3-325B-A3EB-6A01-7D1A118F23E0}"/>
              </a:ext>
            </a:extLst>
          </p:cNvPr>
          <p:cNvSpPr/>
          <p:nvPr/>
        </p:nvSpPr>
        <p:spPr>
          <a:xfrm>
            <a:off x="762000" y="317500"/>
            <a:ext cx="2540000" cy="3302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10B981"/>
                </a:solidFill>
                <a:latin typeface="Segoe UI" panose="020B0502040204020203" pitchFamily="34" charset="0"/>
              </a:rPr>
              <a:t>FEATURES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59A80-E90A-668A-C8B0-67A958FD3196}"/>
              </a:ext>
            </a:extLst>
          </p:cNvPr>
          <p:cNvSpPr txBox="1"/>
          <p:nvPr/>
        </p:nvSpPr>
        <p:spPr>
          <a:xfrm>
            <a:off x="762000" y="685800"/>
            <a:ext cx="10668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" panose="020B0502040204020203" pitchFamily="34" charset="0"/>
              </a:rPr>
              <a:t>Key Features of the Solar Share Grid Platform</a:t>
            </a:r>
            <a:endParaRPr lang="en-IN" sz="2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8488A-3368-90EF-5AF3-6008593B1D68}"/>
              </a:ext>
            </a:extLst>
          </p:cNvPr>
          <p:cNvSpPr/>
          <p:nvPr/>
        </p:nvSpPr>
        <p:spPr>
          <a:xfrm>
            <a:off x="762000" y="1244600"/>
            <a:ext cx="5207000" cy="1651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43A54-05D3-BD16-A274-8D0DB2BC1522}"/>
              </a:ext>
            </a:extLst>
          </p:cNvPr>
          <p:cNvSpPr txBox="1"/>
          <p:nvPr/>
        </p:nvSpPr>
        <p:spPr>
          <a:xfrm>
            <a:off x="952500" y="1333500"/>
            <a:ext cx="482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10B981"/>
                </a:solidFill>
                <a:latin typeface="Segoe UI" panose="020B0502040204020203" pitchFamily="34" charset="0"/>
              </a:rPr>
              <a:t>1. Warshall's Transitive Closure Engine</a:t>
            </a:r>
            <a:endParaRPr lang="en-IN" sz="13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B39EE-A0F0-B485-0B2A-E2D52314FAED}"/>
              </a:ext>
            </a:extLst>
          </p:cNvPr>
          <p:cNvSpPr txBox="1"/>
          <p:nvPr/>
        </p:nvSpPr>
        <p:spPr>
          <a:xfrm>
            <a:off x="952500" y="1676400"/>
            <a:ext cx="48260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•  Custom O(V^3) Warshall's algorithm computed step-by-step from scratch.
•  Computes all indirect, multi-hop power pathways (R^+).
•  Mathematical relation analyzer: Reflexive, Symmetric, and Transitive closures.</a:t>
            </a:r>
            <a:endParaRPr lang="en-IN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69C97D-1F7D-2FC7-F74A-688FA6C88D1A}"/>
              </a:ext>
            </a:extLst>
          </p:cNvPr>
          <p:cNvSpPr/>
          <p:nvPr/>
        </p:nvSpPr>
        <p:spPr>
          <a:xfrm>
            <a:off x="762000" y="3022600"/>
            <a:ext cx="5207000" cy="1651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399FF-337B-0966-79F3-26D1F7496442}"/>
              </a:ext>
            </a:extLst>
          </p:cNvPr>
          <p:cNvSpPr txBox="1"/>
          <p:nvPr/>
        </p:nvSpPr>
        <p:spPr>
          <a:xfrm>
            <a:off x="952500" y="3111500"/>
            <a:ext cx="482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10B981"/>
                </a:solidFill>
                <a:latin typeface="Segoe UI" panose="020B0502040204020203" pitchFamily="34" charset="0"/>
              </a:rPr>
              <a:t>2. Reachability &amp; Left-Out Household Detection</a:t>
            </a:r>
            <a:endParaRPr lang="en-IN" sz="13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C7594-FB6E-687F-F9F4-531FB03A6E04}"/>
              </a:ext>
            </a:extLst>
          </p:cNvPr>
          <p:cNvSpPr txBox="1"/>
          <p:nvPr/>
        </p:nvSpPr>
        <p:spPr>
          <a:xfrm>
            <a:off x="952500" y="3454400"/>
            <a:ext cx="48260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00">
                <a:solidFill>
                  <a:srgbClr val="94A3B8"/>
                </a:solidFill>
                <a:latin typeface="Segoe UI" panose="020B0502040204020203" pitchFamily="34" charset="0"/>
              </a:rPr>
              <a:t>•  Computes exact Reachability Sets Reach(v) for each solar producer.
•  Automated audit flags stranded consumer homes with zero upstream solar.
•  Live KPI metrics: Solar Self-Sufficiency Index (%) &amp; Household Isolation Rate (%).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F72985-2565-AC8F-9AFF-E145D0B1B102}"/>
              </a:ext>
            </a:extLst>
          </p:cNvPr>
          <p:cNvSpPr/>
          <p:nvPr/>
        </p:nvSpPr>
        <p:spPr>
          <a:xfrm>
            <a:off x="6223000" y="1244600"/>
            <a:ext cx="5207000" cy="1651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7065B-F218-ED86-C83B-04E58E099EC1}"/>
              </a:ext>
            </a:extLst>
          </p:cNvPr>
          <p:cNvSpPr txBox="1"/>
          <p:nvPr/>
        </p:nvSpPr>
        <p:spPr>
          <a:xfrm>
            <a:off x="6413500" y="1333500"/>
            <a:ext cx="482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59E0B"/>
                </a:solidFill>
                <a:latin typeface="Segoe UI" panose="020B0502040204020203" pitchFamily="34" charset="0"/>
              </a:rPr>
              <a:t>3. Strongly Connected Energy Communities</a:t>
            </a:r>
            <a:endParaRPr lang="en-IN" sz="13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37250-3D9D-062C-B2A1-3C1AD4A1320E}"/>
              </a:ext>
            </a:extLst>
          </p:cNvPr>
          <p:cNvSpPr txBox="1"/>
          <p:nvPr/>
        </p:nvSpPr>
        <p:spPr>
          <a:xfrm>
            <a:off x="6413500" y="1676400"/>
            <a:ext cx="4826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•  Decomposes the microgrid into Strongly Connected Components (SCCs).
•  Proves mutual energy exchange: u can supply v and v can supply u.
•  Equivalence classes form resilient micro-islands capable of autonomous operation.</a:t>
            </a:r>
            <a:endParaRPr lang="en-IN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B51605-6271-ADAB-7D87-04251DAAA058}"/>
              </a:ext>
            </a:extLst>
          </p:cNvPr>
          <p:cNvSpPr/>
          <p:nvPr/>
        </p:nvSpPr>
        <p:spPr>
          <a:xfrm>
            <a:off x="6223000" y="3022600"/>
            <a:ext cx="5207000" cy="1651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C25E25-DA4D-F741-B404-17B3EB489D0F}"/>
              </a:ext>
            </a:extLst>
          </p:cNvPr>
          <p:cNvSpPr txBox="1"/>
          <p:nvPr/>
        </p:nvSpPr>
        <p:spPr>
          <a:xfrm>
            <a:off x="6413500" y="3111500"/>
            <a:ext cx="482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59E0B"/>
                </a:solidFill>
                <a:latin typeface="Segoe UI" panose="020B0502040204020203" pitchFamily="34" charset="0"/>
              </a:rPr>
              <a:t>4. Graph AI Missing Link Optimizer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4F906F-ACEF-DAE3-75AA-8F0B74951519}"/>
              </a:ext>
            </a:extLst>
          </p:cNvPr>
          <p:cNvSpPr txBox="1"/>
          <p:nvPr/>
        </p:nvSpPr>
        <p:spPr>
          <a:xfrm>
            <a:off x="6413500" y="3454400"/>
            <a:ext cx="48260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•  Evaluates all possible missing directed lines (u, v) not yet in the grid.
•  Efficiency Score = (Delta Powered Homes x Newly Served kW) / Euclidean Distance.
•  Recommends the SINGLE optimal power line to eliminate left-out homes at lowest cost.</a:t>
            </a:r>
            <a:endParaRPr lang="en-IN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D5C42-C40C-B198-DC70-42669BF9DD60}"/>
              </a:ext>
            </a:extLst>
          </p:cNvPr>
          <p:cNvSpPr/>
          <p:nvPr/>
        </p:nvSpPr>
        <p:spPr>
          <a:xfrm>
            <a:off x="762000" y="4826000"/>
            <a:ext cx="10668000" cy="17145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5834C-4E19-351C-353D-67744A7A4E72}"/>
              </a:ext>
            </a:extLst>
          </p:cNvPr>
          <p:cNvSpPr txBox="1"/>
          <p:nvPr/>
        </p:nvSpPr>
        <p:spPr>
          <a:xfrm>
            <a:off x="952500" y="49276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38BDF8"/>
                </a:solidFill>
                <a:latin typeface="Segoe UI" panose="020B0502040204020203" pitchFamily="34" charset="0"/>
              </a:rPr>
              <a:t>5. Physics-Based P2P Trade Settlement &amp; Executive Export</a:t>
            </a:r>
            <a:endParaRPr lang="en-IN" sz="1300" b="1">
              <a:solidFill>
                <a:srgbClr val="38BDF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58045-160B-2F25-9F05-BB22CF73AA5F}"/>
              </a:ext>
            </a:extLst>
          </p:cNvPr>
          <p:cNvSpPr txBox="1"/>
          <p:nvPr/>
        </p:nvSpPr>
        <p:spPr>
          <a:xfrm>
            <a:off x="952500" y="5257800"/>
            <a:ext cx="10287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00">
                <a:solidFill>
                  <a:srgbClr val="94A3B8"/>
                </a:solidFill>
                <a:latin typeface="Segoe UI" panose="020B0502040204020203" pitchFamily="34" charset="0"/>
              </a:rPr>
              <a:t>•  Multi-hop transmission loss model: Delivered Power = Surplus x Product(1 - loss_i) for k hops.
•  Greedy shortest-distance P2P settlement ledger calculating sent kW, line losses, and financial bill savings.
•  1-Click Executive Summary Report export (CSV/PDF) containing microgrid KPIs and transaction records.
•  4 Pre-built realistic microgrid presets localized to Nerul, Navi Mumbai (Suburban, Hillside, Islands, Custom).</a:t>
            </a:r>
          </a:p>
        </p:txBody>
      </p:sp>
    </p:spTree>
    <p:extLst>
      <p:ext uri="{BB962C8B-B14F-4D97-AF65-F5344CB8AC3E}">
        <p14:creationId xmlns:p14="http://schemas.microsoft.com/office/powerpoint/2010/main" val="378907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Custom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SHARAD BELE</dc:creator>
  <cp:lastModifiedBy>SHARAD BELE</cp:lastModifiedBy>
  <cp:revision>1</cp:revision>
  <dcterms:created xsi:type="dcterms:W3CDTF">2026-10-05T13:22:14Z</dcterms:created>
  <dcterms:modified xsi:type="dcterms:W3CDTF">2026-10-05T13:22:14Z</dcterms:modified>
</cp:coreProperties>
</file>