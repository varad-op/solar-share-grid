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C409A-C710-FAF6-4E7D-CA0A776417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E552A8-7F9E-1493-B025-4CF527417C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AB0347-5BE5-F83B-822B-AEBF7DA08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C691A-9324-4AF1-A836-5C73D2BDC322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7B992D-F038-4BC3-CE6E-21A9303CE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823EC3-CA1C-6DC5-484A-73CCE3FBB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1E2B3-EF09-4EBF-B449-23BBEF5D6C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696926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2EE1F-00F8-293C-E28E-D8B69374A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6E8727-1BA8-FC31-93B1-12A6D3D45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858321-C54E-1838-B4CE-4D19AE55E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C691A-9324-4AF1-A836-5C73D2BDC322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D3488-B31E-B54B-4B18-E10824D84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931F55-B17A-6547-D1B0-5A2BB85C6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1E2B3-EF09-4EBF-B449-23BBEF5D6C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06216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706A8-6107-2387-3B5D-A04E7A8CB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CF594C-B100-83FF-0E33-AC1E47D771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280EAF-79C6-AB96-381C-1CB1CBB09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C691A-9324-4AF1-A836-5C73D2BDC322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515CA8-13EC-511E-4619-72F716145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CB6D81-B89A-F3F4-FED8-FF722770C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1E2B3-EF09-4EBF-B449-23BBEF5D6C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7344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0EEB0-779B-3CCB-4902-F45FDFF51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BCFB3B-F4C8-A9CA-75A2-478A144502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775E47-4650-8090-7322-613925F05C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0E87B6-C835-E4EE-ED5E-216C38FC8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C691A-9324-4AF1-A836-5C73D2BDC322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3D799A-ED36-5505-4D3D-94295803C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6B9A20-F6C9-3BD9-AFFB-C94CA55DC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1E2B3-EF09-4EBF-B449-23BBEF5D6C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67955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BD83D-34B9-DFAE-14C8-433A0C108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996A08-5AC6-BCE7-E722-C624E3CDB5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CFC63A-72B2-49DB-B5FC-0B7AC84B9B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D72C3-FBD9-7A64-15AC-54BFDB3263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407407-92E1-C648-DAEA-AA3D11B936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381C3D-F35D-BF7B-1886-812794CAC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C691A-9324-4AF1-A836-5C73D2BDC322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1B2634-A6BB-46CB-BE6C-7E8860D2C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DF079BE-0094-4599-C2B2-955629A3A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1E2B3-EF09-4EBF-B449-23BBEF5D6C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877070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C4C48-F9C7-78B0-1B4B-AA447FBA3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1F7198-8F64-D8A5-F557-4CB6CD085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C691A-9324-4AF1-A836-5C73D2BDC322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8228F2-1ED7-45A7-491A-C8FE628A3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38A3D5-E652-929A-C13D-0390C5C81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1E2B3-EF09-4EBF-B449-23BBEF5D6C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2337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747E047-0FD4-5F9D-69C6-4A32DB4A1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C691A-9324-4AF1-A836-5C73D2BDC322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EA3F6C-4525-CF1B-BA23-F20E29632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A9147E-051D-5F2B-89D6-A153A173A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1E2B3-EF09-4EBF-B449-23BBEF5D6C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2845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345AF-7AC3-5E6E-29FB-04AB1EA19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BF9E15-10DB-C029-D168-47EF87A0FD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333989-5AF8-5FBD-9600-A79EAD60C8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AB021E-7F26-85D9-4C5E-4D04C1851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C691A-9324-4AF1-A836-5C73D2BDC322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52DE87-5B53-EA96-C487-D049FDF03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5BEF25-3168-AB9B-30D5-595BB2C53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1E2B3-EF09-4EBF-B449-23BBEF5D6C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46450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ECE66-75EC-D6EE-2EAD-12292F3A8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BAB0CE-51F4-3B87-759F-52D076183CE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91A479-107D-2846-86A1-026B283160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9AD07F-962D-474E-F5E8-5FF5C4D8E0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C691A-9324-4AF1-A836-5C73D2BDC322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0C5046-2358-C82E-4677-1C29799B15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60CE12-97DE-DEE7-D7F4-923D79888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1E2B3-EF09-4EBF-B449-23BBEF5D6C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9078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BB2F9-057C-D4C5-529C-3342DD3E5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22D1D0-7851-C50A-6891-EFD6D89C52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6B2D89-58A4-427C-BED1-2D40EFA75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C691A-9324-4AF1-A836-5C73D2BDC322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BE1BD1-4B82-552E-487A-7B9A0059C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D1984-76C6-D583-D4E7-4E5B23EC6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1E2B3-EF09-4EBF-B449-23BBEF5D6C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9005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71BA57-6BC6-4DA5-38E1-C85F1683E8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F38F1F-C3BC-F623-3E85-33BBD36077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6DE723-836F-D394-3478-97B87538C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C691A-9324-4AF1-A836-5C73D2BDC322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82B7CC-5226-8C1F-6EBF-DE132262BB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8FBDB1-8C11-822B-7439-1062FCDF7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1E2B3-EF09-4EBF-B449-23BBEF5D6C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84052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AB0D6E-875F-D720-6E4A-896CE2A43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07A659-3C0F-14B2-6CF5-C65F9FB84D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D03335-B190-4A58-9C3C-C9E14DB5BC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4C691A-9324-4AF1-A836-5C73D2BDC322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C38FDC-309E-C811-0E4E-84B8725474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F47945-65D1-D54B-FCCB-06C8D206F9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B1E2B3-EF09-4EBF-B449-23BBEF5D6C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02487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D3BC690-2827-5ED7-2524-99B3119C61E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066840-94AE-7D75-98B8-6612167B126F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F59E0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355F4B9-FB65-372A-A694-3CA02029A896}"/>
              </a:ext>
            </a:extLst>
          </p:cNvPr>
          <p:cNvSpPr/>
          <p:nvPr/>
        </p:nvSpPr>
        <p:spPr>
          <a:xfrm>
            <a:off x="1016000" y="825500"/>
            <a:ext cx="3810000" cy="381000"/>
          </a:xfrm>
          <a:prstGeom prst="roundRect">
            <a:avLst/>
          </a:prstGeom>
          <a:solidFill>
            <a:srgbClr val="1A2639"/>
          </a:solidFill>
          <a:ln w="19050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b="1">
                <a:solidFill>
                  <a:srgbClr val="F59E0B"/>
                </a:solidFill>
                <a:latin typeface="Segoe UI" panose="020B0502040204020203" pitchFamily="34" charset="0"/>
              </a:rPr>
              <a:t>DISCRETE MATHEMATICS &amp; GRAPH THEORY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4CFEEB-5331-A026-5C7B-68D7D01D62DB}"/>
              </a:ext>
            </a:extLst>
          </p:cNvPr>
          <p:cNvSpPr txBox="1"/>
          <p:nvPr/>
        </p:nvSpPr>
        <p:spPr>
          <a:xfrm>
            <a:off x="1016000" y="1397000"/>
            <a:ext cx="10160000" cy="86177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5000" b="1">
                <a:solidFill>
                  <a:srgbClr val="FFFFFF"/>
                </a:solidFill>
                <a:latin typeface="Segoe UI" panose="020B0502040204020203" pitchFamily="34" charset="0"/>
              </a:rPr>
              <a:t>Solar Share Grid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FD618B-D986-6063-C634-41A78A035F26}"/>
              </a:ext>
            </a:extLst>
          </p:cNvPr>
          <p:cNvSpPr txBox="1"/>
          <p:nvPr/>
        </p:nvSpPr>
        <p:spPr>
          <a:xfrm>
            <a:off x="1016000" y="2476500"/>
            <a:ext cx="10160000" cy="52322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94A3B8"/>
                </a:solidFill>
                <a:latin typeface="Segoe UI" panose="020B0502040204020203" pitchFamily="34" charset="0"/>
              </a:rPr>
              <a:t>A Peer-to-Peer Rooftop Solar Trading Microgrid Simulator Powered by Binary Relations, Warshall's Transitive Closure, and Heuristic Graph Optimization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AD40383-7856-9272-008E-3E1CA604678F}"/>
              </a:ext>
            </a:extLst>
          </p:cNvPr>
          <p:cNvSpPr/>
          <p:nvPr/>
        </p:nvSpPr>
        <p:spPr>
          <a:xfrm>
            <a:off x="1016000" y="3556000"/>
            <a:ext cx="6731000" cy="2476500"/>
          </a:xfrm>
          <a:prstGeom prst="roundRect">
            <a:avLst/>
          </a:prstGeom>
          <a:solidFill>
            <a:srgbClr val="1A2639"/>
          </a:solidFill>
          <a:ln w="19050">
            <a:solidFill>
              <a:srgbClr val="2D3E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1EDB04-FBB3-27C6-AE21-66F4CF83606A}"/>
              </a:ext>
            </a:extLst>
          </p:cNvPr>
          <p:cNvSpPr txBox="1"/>
          <p:nvPr/>
        </p:nvSpPr>
        <p:spPr>
          <a:xfrm>
            <a:off x="1333500" y="3746500"/>
            <a:ext cx="6096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100" b="1">
                <a:solidFill>
                  <a:srgbClr val="10B981"/>
                </a:solidFill>
                <a:latin typeface="Segoe UI" panose="020B0502040204020203" pitchFamily="34" charset="0"/>
              </a:rPr>
              <a:t>PROJECT AUTHOR &amp; DETAILS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04E137-2872-88B7-B7C3-5AB8623C56B1}"/>
              </a:ext>
            </a:extLst>
          </p:cNvPr>
          <p:cNvSpPr txBox="1"/>
          <p:nvPr/>
        </p:nvSpPr>
        <p:spPr>
          <a:xfrm>
            <a:off x="1333500" y="4127500"/>
            <a:ext cx="609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2400" b="1">
                <a:solidFill>
                  <a:srgbClr val="FFFFFF"/>
                </a:solidFill>
                <a:latin typeface="Segoe UI" panose="020B0502040204020203" pitchFamily="34" charset="0"/>
              </a:rPr>
              <a:t>Name: Varad Bele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EAF3C5-C89A-0D54-D99A-10259A6FBB53}"/>
              </a:ext>
            </a:extLst>
          </p:cNvPr>
          <p:cNvSpPr txBox="1"/>
          <p:nvPr/>
        </p:nvSpPr>
        <p:spPr>
          <a:xfrm>
            <a:off x="1333500" y="4762500"/>
            <a:ext cx="6096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2000" b="1">
                <a:solidFill>
                  <a:srgbClr val="F59E0B"/>
                </a:solidFill>
                <a:latin typeface="Segoe UI" panose="020B0502040204020203" pitchFamily="34" charset="0"/>
              </a:rPr>
              <a:t>Roll No: 16015025004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5DD244-85AE-0322-C18C-938D4B4A7381}"/>
              </a:ext>
            </a:extLst>
          </p:cNvPr>
          <p:cNvSpPr txBox="1"/>
          <p:nvPr/>
        </p:nvSpPr>
        <p:spPr>
          <a:xfrm>
            <a:off x="1333500" y="5397500"/>
            <a:ext cx="609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>
                <a:solidFill>
                  <a:srgbClr val="94A3B8"/>
                </a:solidFill>
                <a:latin typeface="Segoe UI" panose="020B0502040204020203" pitchFamily="34" charset="0"/>
              </a:rPr>
              <a:t>B.Tech Second Year | Computer Engineering | Discrete Mathematics</a:t>
            </a:r>
            <a:endParaRPr lang="en-IN" sz="13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D01B50C-B3F6-527B-7492-3D015862F821}"/>
              </a:ext>
            </a:extLst>
          </p:cNvPr>
          <p:cNvSpPr/>
          <p:nvPr/>
        </p:nvSpPr>
        <p:spPr>
          <a:xfrm>
            <a:off x="8128000" y="3556000"/>
            <a:ext cx="3048000" cy="2476500"/>
          </a:xfrm>
          <a:prstGeom prst="roundRect">
            <a:avLst/>
          </a:prstGeom>
          <a:solidFill>
            <a:srgbClr val="121B2B"/>
          </a:solidFill>
          <a:ln w="19050">
            <a:solidFill>
              <a:srgbClr val="2D3E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AFB9D1-EED5-7FEC-ABEC-373D45E40AFF}"/>
              </a:ext>
            </a:extLst>
          </p:cNvPr>
          <p:cNvSpPr txBox="1"/>
          <p:nvPr/>
        </p:nvSpPr>
        <p:spPr>
          <a:xfrm>
            <a:off x="8318500" y="3746500"/>
            <a:ext cx="2667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100" b="1">
                <a:solidFill>
                  <a:srgbClr val="F59E0B"/>
                </a:solidFill>
                <a:latin typeface="Segoe UI" panose="020B0502040204020203" pitchFamily="34" charset="0"/>
              </a:rPr>
              <a:t>SYSTEM ARCHITECTURE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FFF95F-BFFB-2615-2F92-CF9F9C7D5296}"/>
              </a:ext>
            </a:extLst>
          </p:cNvPr>
          <p:cNvSpPr txBox="1"/>
          <p:nvPr/>
        </p:nvSpPr>
        <p:spPr>
          <a:xfrm>
            <a:off x="8318500" y="4127500"/>
            <a:ext cx="2730500" cy="101566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94A3B8"/>
                </a:solidFill>
                <a:latin typeface="Segoe UI" panose="020B0502040204020203" pitchFamily="34" charset="0"/>
              </a:rPr>
              <a:t>•  5 Core Math Engines
•  Warshall's Algorithm O(V^3)
•  Equivalence Classes &amp; SCCs
•  Heuristic Line Optimizer
•  Real P2P Trade Simulation</a:t>
            </a:r>
            <a:endParaRPr lang="en-IN" sz="12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5339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3EE8F96-3808-2162-EA59-1D84A8C27F0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9AADAF-B798-90CE-1F4C-E8F50C7A1A96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F59E0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A0CDB4A-33CD-7B43-2FAA-199641186C21}"/>
              </a:ext>
            </a:extLst>
          </p:cNvPr>
          <p:cNvSpPr/>
          <p:nvPr/>
        </p:nvSpPr>
        <p:spPr>
          <a:xfrm>
            <a:off x="762000" y="381000"/>
            <a:ext cx="2286000" cy="33020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b="1">
                <a:solidFill>
                  <a:srgbClr val="F59E0B"/>
                </a:solidFill>
                <a:latin typeface="Segoe UI" panose="020B0502040204020203" pitchFamily="34" charset="0"/>
              </a:rPr>
              <a:t>PROBLEM STATEMENT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9AEECF-8B4B-6FFC-A774-920623369C1B}"/>
              </a:ext>
            </a:extLst>
          </p:cNvPr>
          <p:cNvSpPr txBox="1"/>
          <p:nvPr/>
        </p:nvSpPr>
        <p:spPr>
          <a:xfrm>
            <a:off x="762000" y="762000"/>
            <a:ext cx="10668000" cy="4770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Segoe UI" panose="020B0502040204020203" pitchFamily="34" charset="0"/>
              </a:rPr>
              <a:t>The Challenge in Decentralized Rooftop Solar Distribution</a:t>
            </a:r>
            <a:endParaRPr lang="en-IN" sz="250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0B748FB-434F-13C5-772E-BE71E8E05338}"/>
              </a:ext>
            </a:extLst>
          </p:cNvPr>
          <p:cNvSpPr/>
          <p:nvPr/>
        </p:nvSpPr>
        <p:spPr>
          <a:xfrm>
            <a:off x="762000" y="1460500"/>
            <a:ext cx="5207000" cy="203200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66AD23-0C68-2D8F-C242-7C571426BE44}"/>
              </a:ext>
            </a:extLst>
          </p:cNvPr>
          <p:cNvSpPr txBox="1"/>
          <p:nvPr/>
        </p:nvSpPr>
        <p:spPr>
          <a:xfrm>
            <a:off x="952500" y="1587500"/>
            <a:ext cx="4826000" cy="30008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350" b="1">
                <a:solidFill>
                  <a:srgbClr val="F59E0B"/>
                </a:solidFill>
                <a:latin typeface="Segoe UI" panose="020B0502040204020203" pitchFamily="34" charset="0"/>
              </a:rPr>
              <a:t>1. Solar Generation &amp; Demand Mismatch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754E48-F5E8-0B82-01E3-859E2F2828F6}"/>
              </a:ext>
            </a:extLst>
          </p:cNvPr>
          <p:cNvSpPr txBox="1"/>
          <p:nvPr/>
        </p:nvSpPr>
        <p:spPr>
          <a:xfrm>
            <a:off x="952500" y="1968500"/>
            <a:ext cx="4826000" cy="80021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150">
                <a:solidFill>
                  <a:srgbClr val="94A3B8"/>
                </a:solidFill>
                <a:latin typeface="Segoe UI" panose="020B0502040204020203" pitchFamily="34" charset="0"/>
              </a:rPr>
              <a:t>•  Solar-equipped homes produce excess power during peak daylight hours when household consumption is low.
•  Non-solar neighbors suffer power deficits or expensive utility tariffs without an equitable local sharing grid.</a:t>
            </a:r>
            <a:endParaRPr lang="en-IN" sz="115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5890CB0-9D8D-3543-C773-603050BA4E68}"/>
              </a:ext>
            </a:extLst>
          </p:cNvPr>
          <p:cNvSpPr/>
          <p:nvPr/>
        </p:nvSpPr>
        <p:spPr>
          <a:xfrm>
            <a:off x="6223000" y="1460500"/>
            <a:ext cx="5207000" cy="203200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B64157-6275-E546-D5C4-2715560A6F50}"/>
              </a:ext>
            </a:extLst>
          </p:cNvPr>
          <p:cNvSpPr txBox="1"/>
          <p:nvPr/>
        </p:nvSpPr>
        <p:spPr>
          <a:xfrm>
            <a:off x="6413500" y="1587500"/>
            <a:ext cx="4826000" cy="30008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350" b="1">
                <a:solidFill>
                  <a:srgbClr val="F59E0B"/>
                </a:solidFill>
                <a:latin typeface="Segoe UI" panose="020B0502040204020203" pitchFamily="34" charset="0"/>
              </a:rPr>
              <a:t>2. Directional Grid Constraints (Digraphs)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62ED57-E715-333F-6DCA-896341358333}"/>
              </a:ext>
            </a:extLst>
          </p:cNvPr>
          <p:cNvSpPr txBox="1"/>
          <p:nvPr/>
        </p:nvSpPr>
        <p:spPr>
          <a:xfrm>
            <a:off x="6413500" y="1968500"/>
            <a:ext cx="4826000" cy="80021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150">
                <a:solidFill>
                  <a:srgbClr val="94A3B8"/>
                </a:solidFill>
                <a:latin typeface="Segoe UI" panose="020B0502040204020203" pitchFamily="34" charset="0"/>
              </a:rPr>
              <a:t>•  Power lines operate under asymmetric or unidirectional power converters and feed-in safety limits.
•  Geographical proximity does NOT imply electrical reachability; valid directed transmission paths must exist.</a:t>
            </a:r>
            <a:endParaRPr lang="en-IN" sz="115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2C3DD30-7327-36E5-AD36-D38DB620E59A}"/>
              </a:ext>
            </a:extLst>
          </p:cNvPr>
          <p:cNvSpPr/>
          <p:nvPr/>
        </p:nvSpPr>
        <p:spPr>
          <a:xfrm>
            <a:off x="762000" y="3683000"/>
            <a:ext cx="5207000" cy="203200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8392A9-EC83-A5A6-FD08-8133D4197B17}"/>
              </a:ext>
            </a:extLst>
          </p:cNvPr>
          <p:cNvSpPr txBox="1"/>
          <p:nvPr/>
        </p:nvSpPr>
        <p:spPr>
          <a:xfrm>
            <a:off x="952500" y="3810000"/>
            <a:ext cx="4826000" cy="30008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50" b="1">
                <a:solidFill>
                  <a:srgbClr val="F87171"/>
                </a:solidFill>
                <a:latin typeface="Segoe UI" panose="020B0502040204020203" pitchFamily="34" charset="0"/>
              </a:rPr>
              <a:t>3. The 'Left-Out Household' Crisis</a:t>
            </a:r>
            <a:endParaRPr lang="en-IN" sz="1350" b="1">
              <a:solidFill>
                <a:srgbClr val="F87171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12B20A-4110-32BC-E7B3-C0C0EAD568D7}"/>
              </a:ext>
            </a:extLst>
          </p:cNvPr>
          <p:cNvSpPr txBox="1"/>
          <p:nvPr/>
        </p:nvSpPr>
        <p:spPr>
          <a:xfrm>
            <a:off x="952500" y="4191000"/>
            <a:ext cx="4826000" cy="80021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150">
                <a:solidFill>
                  <a:srgbClr val="94A3B8"/>
                </a:solidFill>
                <a:latin typeface="Segoe UI" panose="020B0502040204020203" pitchFamily="34" charset="0"/>
              </a:rPr>
              <a:t>•  Consumer homes with real energy demand remain isolated with zero access to upstream solar producers.
•  Formally: Reach^-1(v) contains NO surplus node. These homes receive 0 kW clean energy despite neighborhood surplus.</a:t>
            </a:r>
            <a:endParaRPr lang="en-IN" sz="115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C6C2F52-8A92-F55C-6E1F-BAC47E4B0E35}"/>
              </a:ext>
            </a:extLst>
          </p:cNvPr>
          <p:cNvSpPr/>
          <p:nvPr/>
        </p:nvSpPr>
        <p:spPr>
          <a:xfrm>
            <a:off x="6223000" y="3683000"/>
            <a:ext cx="5207000" cy="203200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696B88-B8EE-DF97-66A6-861323BA7736}"/>
              </a:ext>
            </a:extLst>
          </p:cNvPr>
          <p:cNvSpPr txBox="1"/>
          <p:nvPr/>
        </p:nvSpPr>
        <p:spPr>
          <a:xfrm>
            <a:off x="6413500" y="3810000"/>
            <a:ext cx="4826000" cy="30008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50" b="1">
                <a:solidFill>
                  <a:srgbClr val="F59E0B"/>
                </a:solidFill>
                <a:latin typeface="Segoe UI" panose="020B0502040204020203" pitchFamily="34" charset="0"/>
              </a:rPr>
              <a:t>4. Transmission Loss &amp; Arbitrary Cabling</a:t>
            </a:r>
            <a:endParaRPr lang="en-IN" sz="135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A12737-D94F-1B47-9DAE-66A9098E26A3}"/>
              </a:ext>
            </a:extLst>
          </p:cNvPr>
          <p:cNvSpPr txBox="1"/>
          <p:nvPr/>
        </p:nvSpPr>
        <p:spPr>
          <a:xfrm>
            <a:off x="6413500" y="4191000"/>
            <a:ext cx="4826000" cy="80021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150">
                <a:solidFill>
                  <a:srgbClr val="94A3B8"/>
                </a:solidFill>
                <a:latin typeface="Segoe UI" panose="020B0502040204020203" pitchFamily="34" charset="0"/>
              </a:rPr>
              <a:t>•  Multi-hop line resistance causes cumulative power loss: Delivered = Surplus x Product(1 - loss_i).
•  Microgrid engineers lack algorithmic tools to select the optimal missing link to install that maximizes coverage.</a:t>
            </a:r>
            <a:endParaRPr lang="en-IN" sz="115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AF66E4A-71E5-85F9-6F3D-CEBFA4E0EFC1}"/>
              </a:ext>
            </a:extLst>
          </p:cNvPr>
          <p:cNvSpPr/>
          <p:nvPr/>
        </p:nvSpPr>
        <p:spPr>
          <a:xfrm>
            <a:off x="762000" y="5905500"/>
            <a:ext cx="10668000" cy="635000"/>
          </a:xfrm>
          <a:prstGeom prst="roundRect">
            <a:avLst/>
          </a:prstGeom>
          <a:solidFill>
            <a:srgbClr val="121B2B"/>
          </a:solidFill>
          <a:ln w="1524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ACB80D-B14D-6491-26C4-B9D984D3F972}"/>
              </a:ext>
            </a:extLst>
          </p:cNvPr>
          <p:cNvSpPr txBox="1"/>
          <p:nvPr/>
        </p:nvSpPr>
        <p:spPr>
          <a:xfrm>
            <a:off x="952500" y="5994400"/>
            <a:ext cx="10287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100" b="1">
                <a:solidFill>
                  <a:srgbClr val="10B981"/>
                </a:solidFill>
                <a:latin typeface="Segoe UI" panose="020B0502040204020203" pitchFamily="34" charset="0"/>
              </a:rPr>
              <a:t>PROJECT MISSION: Use Discrete Mathematics (Binary Relations, Warshall's Algorithm, SCCs) to transform chaotic physical microgrids into self-healing, equitable, and zero-loss P2P energy networks.</a:t>
            </a:r>
          </a:p>
        </p:txBody>
      </p:sp>
    </p:spTree>
    <p:extLst>
      <p:ext uri="{BB962C8B-B14F-4D97-AF65-F5344CB8AC3E}">
        <p14:creationId xmlns:p14="http://schemas.microsoft.com/office/powerpoint/2010/main" val="572089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C4598-3E4F-CBA6-E721-C4C3BFEA6EB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5DAA43-85C8-9C21-408A-E610D3055966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0B98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CFAFC93-A5DB-F8DA-E754-0742B396F952}"/>
              </a:ext>
            </a:extLst>
          </p:cNvPr>
          <p:cNvSpPr/>
          <p:nvPr/>
        </p:nvSpPr>
        <p:spPr>
          <a:xfrm>
            <a:off x="762000" y="317500"/>
            <a:ext cx="2540000" cy="33020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b="1">
                <a:solidFill>
                  <a:srgbClr val="10B981"/>
                </a:solidFill>
                <a:latin typeface="Segoe UI" panose="020B0502040204020203" pitchFamily="34" charset="0"/>
              </a:rPr>
              <a:t>FEATURES OVERVIEW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EA0169-F14D-9781-BBC0-28A5EEBA9F27}"/>
              </a:ext>
            </a:extLst>
          </p:cNvPr>
          <p:cNvSpPr txBox="1"/>
          <p:nvPr/>
        </p:nvSpPr>
        <p:spPr>
          <a:xfrm>
            <a:off x="762000" y="685800"/>
            <a:ext cx="10668000" cy="4770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Segoe UI" panose="020B0502040204020203" pitchFamily="34" charset="0"/>
              </a:rPr>
              <a:t>Key Features of the Solar Share Grid Platform</a:t>
            </a:r>
            <a:endParaRPr lang="en-IN" sz="250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88DF921-3166-91B3-7F18-01C2F9088F5A}"/>
              </a:ext>
            </a:extLst>
          </p:cNvPr>
          <p:cNvSpPr/>
          <p:nvPr/>
        </p:nvSpPr>
        <p:spPr>
          <a:xfrm>
            <a:off x="762000" y="1244600"/>
            <a:ext cx="5207000" cy="165100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81AD90-04E4-A353-E581-6A9E296CEEC8}"/>
              </a:ext>
            </a:extLst>
          </p:cNvPr>
          <p:cNvSpPr txBox="1"/>
          <p:nvPr/>
        </p:nvSpPr>
        <p:spPr>
          <a:xfrm>
            <a:off x="952500" y="1333500"/>
            <a:ext cx="482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 b="1">
                <a:solidFill>
                  <a:srgbClr val="10B981"/>
                </a:solidFill>
                <a:latin typeface="Segoe UI" panose="020B0502040204020203" pitchFamily="34" charset="0"/>
              </a:rPr>
              <a:t>1. Warshall's Transitive Closure Engine</a:t>
            </a:r>
            <a:endParaRPr lang="en-IN" sz="1300" b="1">
              <a:solidFill>
                <a:srgbClr val="10B981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DE709C-C0C5-3C01-7B0C-EEED8F637A5D}"/>
              </a:ext>
            </a:extLst>
          </p:cNvPr>
          <p:cNvSpPr txBox="1"/>
          <p:nvPr/>
        </p:nvSpPr>
        <p:spPr>
          <a:xfrm>
            <a:off x="952500" y="1676400"/>
            <a:ext cx="4826000" cy="93871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100">
                <a:solidFill>
                  <a:srgbClr val="94A3B8"/>
                </a:solidFill>
                <a:latin typeface="Segoe UI" panose="020B0502040204020203" pitchFamily="34" charset="0"/>
              </a:rPr>
              <a:t>•  Custom O(V^3) Warshall's algorithm computed step-by-step from scratch.
•  Computes all indirect, multi-hop power pathways (R^+).
•  Mathematical relation analyzer: Reflexive, Symmetric, and Transitive closures.</a:t>
            </a:r>
            <a:endParaRPr lang="en-IN" sz="11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0E4C997-E30C-54A9-9243-A43D2AAC9D17}"/>
              </a:ext>
            </a:extLst>
          </p:cNvPr>
          <p:cNvSpPr/>
          <p:nvPr/>
        </p:nvSpPr>
        <p:spPr>
          <a:xfrm>
            <a:off x="762000" y="3022600"/>
            <a:ext cx="5207000" cy="165100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4C59EC-E50F-72B4-2906-6E486257B671}"/>
              </a:ext>
            </a:extLst>
          </p:cNvPr>
          <p:cNvSpPr txBox="1"/>
          <p:nvPr/>
        </p:nvSpPr>
        <p:spPr>
          <a:xfrm>
            <a:off x="952500" y="3111500"/>
            <a:ext cx="482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 b="1">
                <a:solidFill>
                  <a:srgbClr val="10B981"/>
                </a:solidFill>
                <a:latin typeface="Segoe UI" panose="020B0502040204020203" pitchFamily="34" charset="0"/>
              </a:rPr>
              <a:t>2. Reachability &amp; Left-Out Household Detection</a:t>
            </a:r>
            <a:endParaRPr lang="en-IN" sz="1300" b="1">
              <a:solidFill>
                <a:srgbClr val="10B981"/>
              </a:solidFill>
              <a:latin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288182-8B11-BC06-6615-3DC37189CD23}"/>
              </a:ext>
            </a:extLst>
          </p:cNvPr>
          <p:cNvSpPr txBox="1"/>
          <p:nvPr/>
        </p:nvSpPr>
        <p:spPr>
          <a:xfrm>
            <a:off x="952500" y="3454400"/>
            <a:ext cx="4826000" cy="93871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100">
                <a:solidFill>
                  <a:srgbClr val="94A3B8"/>
                </a:solidFill>
                <a:latin typeface="Segoe UI" panose="020B0502040204020203" pitchFamily="34" charset="0"/>
              </a:rPr>
              <a:t>•  Computes exact Reachability Sets Reach(v) for each solar producer.
•  Automated audit flags stranded consumer homes with zero upstream solar.
•  Live KPI metrics: Solar Self-Sufficiency Index (%) &amp; Household Isolation Rate (%).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A23691-91FC-1EB8-203A-C159110D2B4B}"/>
              </a:ext>
            </a:extLst>
          </p:cNvPr>
          <p:cNvSpPr/>
          <p:nvPr/>
        </p:nvSpPr>
        <p:spPr>
          <a:xfrm>
            <a:off x="6223000" y="1244600"/>
            <a:ext cx="5207000" cy="165100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AA8C0D-4CBA-AA0A-AC28-36C6611B744E}"/>
              </a:ext>
            </a:extLst>
          </p:cNvPr>
          <p:cNvSpPr txBox="1"/>
          <p:nvPr/>
        </p:nvSpPr>
        <p:spPr>
          <a:xfrm>
            <a:off x="6413500" y="1333500"/>
            <a:ext cx="482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 b="1">
                <a:solidFill>
                  <a:srgbClr val="F59E0B"/>
                </a:solidFill>
                <a:latin typeface="Segoe UI" panose="020B0502040204020203" pitchFamily="34" charset="0"/>
              </a:rPr>
              <a:t>3. Strongly Connected Energy Communities</a:t>
            </a:r>
            <a:endParaRPr lang="en-IN" sz="13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FDE7BE-0FC2-6AF1-4756-CFFE05CB8247}"/>
              </a:ext>
            </a:extLst>
          </p:cNvPr>
          <p:cNvSpPr txBox="1"/>
          <p:nvPr/>
        </p:nvSpPr>
        <p:spPr>
          <a:xfrm>
            <a:off x="6413500" y="1676400"/>
            <a:ext cx="4826000" cy="76944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100">
                <a:solidFill>
                  <a:srgbClr val="94A3B8"/>
                </a:solidFill>
                <a:latin typeface="Segoe UI" panose="020B0502040204020203" pitchFamily="34" charset="0"/>
              </a:rPr>
              <a:t>•  Decomposes the microgrid into Strongly Connected Components (SCCs).
•  Proves mutual energy exchange: u can supply v and v can supply u.
•  Equivalence classes form resilient micro-islands capable of autonomous operation.</a:t>
            </a:r>
            <a:endParaRPr lang="en-IN" sz="11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052D1A0-2C89-129A-1A5D-14D6419F311B}"/>
              </a:ext>
            </a:extLst>
          </p:cNvPr>
          <p:cNvSpPr/>
          <p:nvPr/>
        </p:nvSpPr>
        <p:spPr>
          <a:xfrm>
            <a:off x="6223000" y="3022600"/>
            <a:ext cx="5207000" cy="165100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2A1FA4-B066-82F9-5BBC-577AF1FBD7D7}"/>
              </a:ext>
            </a:extLst>
          </p:cNvPr>
          <p:cNvSpPr txBox="1"/>
          <p:nvPr/>
        </p:nvSpPr>
        <p:spPr>
          <a:xfrm>
            <a:off x="6413500" y="3111500"/>
            <a:ext cx="482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300" b="1">
                <a:solidFill>
                  <a:srgbClr val="F59E0B"/>
                </a:solidFill>
                <a:latin typeface="Segoe UI" panose="020B0502040204020203" pitchFamily="34" charset="0"/>
              </a:rPr>
              <a:t>4. Graph AI Missing Link Optimizer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537674-45B8-22B9-34FC-59CCF3F58245}"/>
              </a:ext>
            </a:extLst>
          </p:cNvPr>
          <p:cNvSpPr txBox="1"/>
          <p:nvPr/>
        </p:nvSpPr>
        <p:spPr>
          <a:xfrm>
            <a:off x="6413500" y="3454400"/>
            <a:ext cx="4826000" cy="93871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100">
                <a:solidFill>
                  <a:srgbClr val="94A3B8"/>
                </a:solidFill>
                <a:latin typeface="Segoe UI" panose="020B0502040204020203" pitchFamily="34" charset="0"/>
              </a:rPr>
              <a:t>•  Evaluates all possible missing directed lines (u, v) not yet in the grid.
•  Efficiency Score = (Delta Powered Homes x Newly Served kW) / Euclidean Distance.
•  Recommends the SINGLE optimal power line to eliminate left-out homes at lowest cost.</a:t>
            </a:r>
            <a:endParaRPr lang="en-IN" sz="11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E8F890C-4B27-BD61-59CC-81E92D1AC0E7}"/>
              </a:ext>
            </a:extLst>
          </p:cNvPr>
          <p:cNvSpPr/>
          <p:nvPr/>
        </p:nvSpPr>
        <p:spPr>
          <a:xfrm>
            <a:off x="762000" y="4826000"/>
            <a:ext cx="10668000" cy="171450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097C520-1608-F68B-507D-21225474D6D7}"/>
              </a:ext>
            </a:extLst>
          </p:cNvPr>
          <p:cNvSpPr txBox="1"/>
          <p:nvPr/>
        </p:nvSpPr>
        <p:spPr>
          <a:xfrm>
            <a:off x="952500" y="4927600"/>
            <a:ext cx="10287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 b="1">
                <a:solidFill>
                  <a:srgbClr val="38BDF8"/>
                </a:solidFill>
                <a:latin typeface="Segoe UI" panose="020B0502040204020203" pitchFamily="34" charset="0"/>
              </a:rPr>
              <a:t>5. Physics-Based P2P Trade Settlement &amp; Executive Export</a:t>
            </a:r>
            <a:endParaRPr lang="en-IN" sz="1300" b="1">
              <a:solidFill>
                <a:srgbClr val="38BDF8"/>
              </a:solidFill>
              <a:latin typeface="Segoe UI" panose="020B0502040204020203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E92ADA5-9DFF-F096-D930-294A78CF3B32}"/>
              </a:ext>
            </a:extLst>
          </p:cNvPr>
          <p:cNvSpPr txBox="1"/>
          <p:nvPr/>
        </p:nvSpPr>
        <p:spPr>
          <a:xfrm>
            <a:off x="952500" y="5257800"/>
            <a:ext cx="10287000" cy="76944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100">
                <a:solidFill>
                  <a:srgbClr val="94A3B8"/>
                </a:solidFill>
                <a:latin typeface="Segoe UI" panose="020B0502040204020203" pitchFamily="34" charset="0"/>
              </a:rPr>
              <a:t>•  Multi-hop transmission loss model: Delivered Power = Surplus x Product(1 - loss_i) for k hops.
•  Greedy shortest-distance P2P settlement ledger calculating sent kW, line losses, and financial bill savings in INR (Rs).
•  1-Click Executive Summary Report export (CSV/PDF) containing microgrid KPIs and transaction records.
•  4 Pre-built realistic microgrid presets localized to Nerul, Navi Mumbai (Suburban, Hillside, Islands, Custom).</a:t>
            </a:r>
          </a:p>
        </p:txBody>
      </p:sp>
    </p:spTree>
    <p:extLst>
      <p:ext uri="{BB962C8B-B14F-4D97-AF65-F5344CB8AC3E}">
        <p14:creationId xmlns:p14="http://schemas.microsoft.com/office/powerpoint/2010/main" val="5157597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DA0FC6-48A3-DEBF-EECA-CF29DD18C16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9A58D3F-7805-CC2E-1701-33046F37296D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F59E0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D42904E-1739-50AE-D182-B750B1F081D0}"/>
              </a:ext>
            </a:extLst>
          </p:cNvPr>
          <p:cNvSpPr/>
          <p:nvPr/>
        </p:nvSpPr>
        <p:spPr>
          <a:xfrm>
            <a:off x="635000" y="279400"/>
            <a:ext cx="3302000" cy="33020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b="1">
                <a:solidFill>
                  <a:srgbClr val="F59E0B"/>
                </a:solidFill>
                <a:latin typeface="Segoe UI" panose="020B0502040204020203" pitchFamily="34" charset="0"/>
              </a:rPr>
              <a:t>LIVE DEMO • TOPOLOGY &amp; CLOSURE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4FB7B1-1041-F5D9-E75F-8C32C1DA405E}"/>
              </a:ext>
            </a:extLst>
          </p:cNvPr>
          <p:cNvSpPr txBox="1"/>
          <p:nvPr/>
        </p:nvSpPr>
        <p:spPr>
          <a:xfrm>
            <a:off x="635000" y="635000"/>
            <a:ext cx="10922000" cy="4462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300" b="1">
                <a:solidFill>
                  <a:srgbClr val="FFFFFF"/>
                </a:solidFill>
                <a:latin typeface="Segoe UI" panose="020B0502040204020203" pitchFamily="34" charset="0"/>
              </a:rPr>
              <a:t>Interactive Digraph Topology &amp; Warshall Reachability Matrix</a:t>
            </a:r>
            <a:endParaRPr lang="en-IN" sz="230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E57E79E-CBA2-A9B0-8184-E33327753749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206500"/>
            <a:ext cx="5270500" cy="336550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D0E3D99-245A-7706-7988-79FF3E61E1E5}"/>
              </a:ext>
            </a:extLst>
          </p:cNvPr>
          <p:cNvSpPr/>
          <p:nvPr/>
        </p:nvSpPr>
        <p:spPr>
          <a:xfrm>
            <a:off x="635000" y="4699000"/>
            <a:ext cx="5270500" cy="184150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55E08A-E682-E321-0EE8-04253790E34E}"/>
              </a:ext>
            </a:extLst>
          </p:cNvPr>
          <p:cNvSpPr txBox="1"/>
          <p:nvPr/>
        </p:nvSpPr>
        <p:spPr>
          <a:xfrm>
            <a:off x="762000" y="4775200"/>
            <a:ext cx="5016500" cy="28469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50" b="1">
                <a:solidFill>
                  <a:srgbClr val="F59E0B"/>
                </a:solidFill>
                <a:latin typeface="Segoe UI" panose="020B0502040204020203" pitchFamily="34" charset="0"/>
              </a:rPr>
              <a:t>1. Directed Graph Microgrid Map &amp; Controls</a:t>
            </a:r>
            <a:endParaRPr lang="en-IN" sz="125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BD1081-CCF1-74ED-484A-2D54D13D3141}"/>
              </a:ext>
            </a:extLst>
          </p:cNvPr>
          <p:cNvSpPr txBox="1"/>
          <p:nvPr/>
        </p:nvSpPr>
        <p:spPr>
          <a:xfrm>
            <a:off x="762000" y="5080000"/>
            <a:ext cx="5016500" cy="73866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050">
                <a:solidFill>
                  <a:srgbClr val="94A3B8"/>
                </a:solidFill>
                <a:latin typeface="Segoe UI" panose="020B0502040204020203" pitchFamily="34" charset="0"/>
              </a:rPr>
              <a:t>•  Real-time Plotly digraph of Nerul Palm Beach (10 households).
•  Gold = Solar Exporters (surplus &gt; 0); Green = Connected Consumers.
•  Solid Green = Two-way lines; Dashed Orange = One-way feeders.
•  Live KPIs: 100% Reachability, 30.2 kW Surplus, 1 SCC Community.</a:t>
            </a:r>
            <a:endParaRPr lang="en-IN" sz="105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6E846F6-9AD2-1EAD-138D-86AB3910B53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0" y="1206500"/>
            <a:ext cx="5270500" cy="336550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20CE860-8082-3468-A609-2EDD0C99D428}"/>
              </a:ext>
            </a:extLst>
          </p:cNvPr>
          <p:cNvSpPr/>
          <p:nvPr/>
        </p:nvSpPr>
        <p:spPr>
          <a:xfrm>
            <a:off x="6286500" y="4699000"/>
            <a:ext cx="5270500" cy="184150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86B3B1-CE4E-B49A-F905-B8F1D23B7A13}"/>
              </a:ext>
            </a:extLst>
          </p:cNvPr>
          <p:cNvSpPr txBox="1"/>
          <p:nvPr/>
        </p:nvSpPr>
        <p:spPr>
          <a:xfrm>
            <a:off x="6413500" y="4775200"/>
            <a:ext cx="5016500" cy="28469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50" b="1">
                <a:solidFill>
                  <a:srgbClr val="38BDF8"/>
                </a:solidFill>
                <a:latin typeface="Segoe UI" panose="020B0502040204020203" pitchFamily="34" charset="0"/>
              </a:rPr>
              <a:t>2. Warshall Transitive Closure Matrix (R+)</a:t>
            </a:r>
            <a:endParaRPr lang="en-IN" sz="1250" b="1">
              <a:solidFill>
                <a:srgbClr val="38BDF8"/>
              </a:solidFill>
              <a:latin typeface="Segoe UI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16209A-8E36-6DFA-6DED-220C46641018}"/>
              </a:ext>
            </a:extLst>
          </p:cNvPr>
          <p:cNvSpPr txBox="1"/>
          <p:nvPr/>
        </p:nvSpPr>
        <p:spPr>
          <a:xfrm>
            <a:off x="6413500" y="5080000"/>
            <a:ext cx="5016500" cy="73866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050">
                <a:solidFill>
                  <a:srgbClr val="94A3B8"/>
                </a:solidFill>
                <a:latin typeface="Segoe UI" panose="020B0502040204020203" pitchFamily="34" charset="0"/>
              </a:rPr>
              <a:t>•  Custom O(V^3) Warshall algorithm computed step-by-step from scratch.
•  Blue heatmap shows full multi-hop reachability: (i, j) = 1.
•  Unlocks 74 multi-hop indirect power pathways beyond direct physical lines.
•  Sidebar toggle switches instantly between direct lines (A) and (R^+).</a:t>
            </a:r>
          </a:p>
        </p:txBody>
      </p:sp>
    </p:spTree>
    <p:extLst>
      <p:ext uri="{BB962C8B-B14F-4D97-AF65-F5344CB8AC3E}">
        <p14:creationId xmlns:p14="http://schemas.microsoft.com/office/powerpoint/2010/main" val="24600969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EAE6D5-9FAA-5757-3016-39DED821AE2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BDD8C43-C41E-E80C-6A1A-053D76F69B47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0B98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6D6A437-5FAA-B32C-0315-4DCC16C778E8}"/>
              </a:ext>
            </a:extLst>
          </p:cNvPr>
          <p:cNvSpPr/>
          <p:nvPr/>
        </p:nvSpPr>
        <p:spPr>
          <a:xfrm>
            <a:off x="635000" y="279400"/>
            <a:ext cx="3556000" cy="33020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b="1">
                <a:solidFill>
                  <a:srgbClr val="10B981"/>
                </a:solidFill>
                <a:latin typeface="Segoe UI" panose="020B0502040204020203" pitchFamily="34" charset="0"/>
              </a:rPr>
              <a:t>LIVE DEMO • OPTIMIZATION &amp; SETTLEMENT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A78B02-F49B-4268-D096-71D783890D05}"/>
              </a:ext>
            </a:extLst>
          </p:cNvPr>
          <p:cNvSpPr txBox="1"/>
          <p:nvPr/>
        </p:nvSpPr>
        <p:spPr>
          <a:xfrm>
            <a:off x="635000" y="635000"/>
            <a:ext cx="10922000" cy="4462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300" b="1">
                <a:solidFill>
                  <a:srgbClr val="FFFFFF"/>
                </a:solidFill>
                <a:latin typeface="Segoe UI" panose="020B0502040204020203" pitchFamily="34" charset="0"/>
              </a:rPr>
              <a:t>Graph AI Missing Link Optimizer &amp; P2P Energy Trading (Rs)</a:t>
            </a:r>
            <a:endParaRPr lang="en-IN" sz="230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BA625-A21A-0FD1-6814-791592D9D4DA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206500"/>
            <a:ext cx="5270500" cy="336550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B394FDE-DE64-68DD-C339-45591A0F6D33}"/>
              </a:ext>
            </a:extLst>
          </p:cNvPr>
          <p:cNvSpPr/>
          <p:nvPr/>
        </p:nvSpPr>
        <p:spPr>
          <a:xfrm>
            <a:off x="635000" y="4699000"/>
            <a:ext cx="5270500" cy="184150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836718-0898-9087-2AF3-00E88CB8C12D}"/>
              </a:ext>
            </a:extLst>
          </p:cNvPr>
          <p:cNvSpPr txBox="1"/>
          <p:nvPr/>
        </p:nvSpPr>
        <p:spPr>
          <a:xfrm>
            <a:off x="762000" y="4775200"/>
            <a:ext cx="5016500" cy="28469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50" b="1">
                <a:solidFill>
                  <a:srgbClr val="F59E0B"/>
                </a:solidFill>
                <a:latin typeface="Segoe UI" panose="020B0502040204020203" pitchFamily="34" charset="0"/>
              </a:rPr>
              <a:t>3. Graph AI Missing Line Optimizer</a:t>
            </a:r>
            <a:endParaRPr lang="en-IN" sz="125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FD0025-09AA-9281-9B6A-BF416F2F810F}"/>
              </a:ext>
            </a:extLst>
          </p:cNvPr>
          <p:cNvSpPr txBox="1"/>
          <p:nvPr/>
        </p:nvSpPr>
        <p:spPr>
          <a:xfrm>
            <a:off x="762000" y="5080000"/>
            <a:ext cx="5016500" cy="73866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050">
                <a:solidFill>
                  <a:srgbClr val="94A3B8"/>
                </a:solidFill>
                <a:latin typeface="Segoe UI" panose="020B0502040204020203" pitchFamily="34" charset="0"/>
              </a:rPr>
              <a:t>•  Scans all candidate missing directed lines (u, v) not yet in the grid.
•  Score = (Delta Powered Homes x Delta kW Demand Served) / Cable Distance.
•  Recommends optimal line addition with real-time before/after diff graph.
•  'Wire Selected Link' button adds the cable live in animated cyan.</a:t>
            </a:r>
            <a:endParaRPr lang="en-IN" sz="105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483D159-76F4-6189-8E9B-E592B3A30B9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0" y="1206500"/>
            <a:ext cx="5270500" cy="336550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621CF05-ED4F-4B39-D0A0-2729DEE77043}"/>
              </a:ext>
            </a:extLst>
          </p:cNvPr>
          <p:cNvSpPr/>
          <p:nvPr/>
        </p:nvSpPr>
        <p:spPr>
          <a:xfrm>
            <a:off x="6286500" y="4699000"/>
            <a:ext cx="5270500" cy="184150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ABD969-91E7-051F-19D2-5A67FDD7D799}"/>
              </a:ext>
            </a:extLst>
          </p:cNvPr>
          <p:cNvSpPr txBox="1"/>
          <p:nvPr/>
        </p:nvSpPr>
        <p:spPr>
          <a:xfrm>
            <a:off x="6413500" y="4775200"/>
            <a:ext cx="5016500" cy="28469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50" b="1">
                <a:solidFill>
                  <a:srgbClr val="10B981"/>
                </a:solidFill>
                <a:latin typeface="Segoe UI" panose="020B0502040204020203" pitchFamily="34" charset="0"/>
              </a:rPr>
              <a:t>4. P2P Energy Trade Settlement (INR Rs)</a:t>
            </a:r>
            <a:endParaRPr lang="en-IN" sz="1250" b="1">
              <a:solidFill>
                <a:srgbClr val="10B981"/>
              </a:solidFill>
              <a:latin typeface="Segoe UI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E91A3F-3054-D792-178C-F4A19B26EAF2}"/>
              </a:ext>
            </a:extLst>
          </p:cNvPr>
          <p:cNvSpPr txBox="1"/>
          <p:nvPr/>
        </p:nvSpPr>
        <p:spPr>
          <a:xfrm>
            <a:off x="6413500" y="5080000"/>
            <a:ext cx="5016500" cy="73866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050">
                <a:solidFill>
                  <a:srgbClr val="94A3B8"/>
                </a:solidFill>
                <a:latin typeface="Segoe UI" panose="020B0502040204020203" pitchFamily="34" charset="0"/>
              </a:rPr>
              <a:t>•  Multi-hop line dissipation model: Delivered = Surplus x Product(1 - loss_i).
•  Greedy shortest-distance matching pairs neighbors to minimize ohmic losses.
•  Localized to Navi Mumbai tariffs (MSEDCL Rs 10/kWh vs P2P Rs 5/kWh).
•  Generates Rs 148.03/hr in direct savings for the Nerul community!</a:t>
            </a:r>
          </a:p>
        </p:txBody>
      </p:sp>
    </p:spTree>
    <p:extLst>
      <p:ext uri="{BB962C8B-B14F-4D97-AF65-F5344CB8AC3E}">
        <p14:creationId xmlns:p14="http://schemas.microsoft.com/office/powerpoint/2010/main" val="21301565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925</Words>
  <Application>Microsoft Office PowerPoint</Application>
  <PresentationFormat>Custom</PresentationFormat>
  <Paragraphs>44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SHARAD BELE</dc:creator>
  <cp:lastModifiedBy>SHARAD BELE</cp:lastModifiedBy>
  <cp:revision>1</cp:revision>
  <dcterms:created xsi:type="dcterms:W3CDTF">2026-10-19T13:39:14Z</dcterms:created>
  <dcterms:modified xsi:type="dcterms:W3CDTF">2026-10-19T13:39:14Z</dcterms:modified>
</cp:coreProperties>
</file>